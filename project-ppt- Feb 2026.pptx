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3"/>
  </p:notesMasterIdLst>
  <p:sldIdLst>
    <p:sldId id="256" r:id="rId3"/>
    <p:sldId id="571" r:id="rId4"/>
    <p:sldId id="572" r:id="rId5"/>
    <p:sldId id="573" r:id="rId6"/>
    <p:sldId id="574" r:id="rId7"/>
    <p:sldId id="576" r:id="rId8"/>
    <p:sldId id="577" r:id="rId9"/>
    <p:sldId id="579" r:id="rId10"/>
    <p:sldId id="578" r:id="rId11"/>
    <p:sldId id="536"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2C8C2B-2CE4-444F-B2E4-BEE76AD8ACC2}" v="20" dt="2026-03-14T22:25:07.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10</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4200" b="1" dirty="0"/>
              <a:t>Analyzing Agriculture      Productivity Across     Indian States</a:t>
            </a:r>
            <a:endParaRPr lang="en-US" sz="42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u="sng" cap="all" dirty="0"/>
              <a:t>Presented By:-</a:t>
            </a:r>
            <a:endParaRPr lang="en-US" sz="1600" u="sng" cap="all" dirty="0"/>
          </a:p>
          <a:p>
            <a:pPr algn="l">
              <a:spcAft>
                <a:spcPts val="600"/>
              </a:spcAft>
            </a:pPr>
            <a:r>
              <a:rPr lang="en-US" sz="1600" b="1" cap="all" dirty="0"/>
              <a:t>Student Name: KRISHNA SHIVAJI DHALE</a:t>
            </a:r>
          </a:p>
          <a:p>
            <a:pPr algn="l">
              <a:spcAft>
                <a:spcPts val="600"/>
              </a:spcAft>
            </a:pPr>
            <a:r>
              <a:rPr lang="en-US" sz="1600" b="1" cap="all" dirty="0"/>
              <a:t>College Name: SINHGAD COLLEGE OF ENGINEERING</a:t>
            </a:r>
          </a:p>
          <a:p>
            <a:pPr algn="l">
              <a:spcAft>
                <a:spcPts val="600"/>
              </a:spcAft>
            </a:pPr>
            <a:r>
              <a:rPr lang="en-US" sz="1600" b="1" cap="all" dirty="0"/>
              <a:t>Department: BE-CSE</a:t>
            </a:r>
          </a:p>
          <a:p>
            <a:pPr algn="l">
              <a:spcAft>
                <a:spcPts val="600"/>
              </a:spcAft>
            </a:pPr>
            <a:r>
              <a:rPr lang="en-US" sz="1600" b="1" cap="all" dirty="0"/>
              <a:t>Email ID</a:t>
            </a:r>
            <a:r>
              <a:rPr lang="en-US" sz="1600" b="1" dirty="0"/>
              <a:t>: </a:t>
            </a:r>
            <a:r>
              <a:rPr lang="en-US" sz="1800" b="1" dirty="0"/>
              <a:t>krishnadhale2@gmail.com</a:t>
            </a:r>
            <a:endParaRPr lang="en-US" sz="18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D6BE4570-A47B-0A12-050F-F4D8AB417899}"/>
              </a:ext>
            </a:extLst>
          </p:cNvPr>
          <p:cNvPicPr>
            <a:picLocks noChangeAspect="1"/>
          </p:cNvPicPr>
          <p:nvPr/>
        </p:nvPicPr>
        <p:blipFill>
          <a:blip r:embed="rId6"/>
          <a:stretch>
            <a:fillRect/>
          </a:stretch>
        </p:blipFill>
        <p:spPr>
          <a:xfrm>
            <a:off x="6307494" y="793101"/>
            <a:ext cx="4795935" cy="544907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India is land of farmers so to help them we have to gather large and complex Agricultural data such as </a:t>
            </a:r>
            <a:r>
              <a:rPr lang="en-US" sz="2400" b="1" dirty="0"/>
              <a:t>crop production </a:t>
            </a:r>
            <a:r>
              <a:rPr lang="en-US" sz="2400" dirty="0"/>
              <a:t>and </a:t>
            </a:r>
            <a:r>
              <a:rPr lang="en-US" sz="2400" b="1" dirty="0"/>
              <a:t>fertilizer usage </a:t>
            </a:r>
            <a:r>
              <a:rPr lang="en-US" sz="2400" dirty="0"/>
              <a:t>. This data is difficult to analyze using traditional methods. There is a need for an interactive system that can visualize agricultural productivity trends and help day to day farmers  and organization which works on farmers issue to make informed decisions. This project uses </a:t>
            </a:r>
            <a:r>
              <a:rPr lang="en-US" sz="2400" b="1" dirty="0"/>
              <a:t>Power BI dashboards</a:t>
            </a:r>
            <a:r>
              <a:rPr lang="en-US" sz="2400" dirty="0"/>
              <a:t> to analyze and visualize agricultural productivity data effectively.</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200" b="1" dirty="0">
                <a:latin typeface="Calibri" panose="020F0502020204030204" pitchFamily="34" charset="0"/>
                <a:ea typeface="Calibri" panose="020F0502020204030204" pitchFamily="34" charset="0"/>
                <a:cs typeface="Calibri" panose="020F0502020204030204" pitchFamily="34" charset="0"/>
              </a:rPr>
              <a:t>The proposed solution uses Power BI dashboards to analyze agricultural productivity data. The system collects and processes data related to crop production and fertilizer usage, then visualizes it through interactive charts and graphs. This enables users to easily identify trends, compare productivity across regions and years, and make better decisions to improve agricultural performance.</a:t>
            </a: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Collected agricultural data from Kaggle public dataset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Dataset includes Crop, Crop Year , Season , State , Area , Production Rate ,Annual rainfall, Fertilizer , pesticide , Yield imported into power Bi.</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For data we have only taken year and removed date and month column . taken Area as whole number. Taken state name in upper case.</a:t>
            </a:r>
          </a:p>
          <a:p>
            <a:pPr marL="629920" lvl="1" indent="-305435">
              <a:spcBef>
                <a:spcPct val="20000"/>
              </a:spcBef>
              <a:spcAft>
                <a:spcPts val="600"/>
              </a:spcAft>
              <a:buFont typeface="Arial"/>
              <a:buChar char="•"/>
            </a:pPr>
            <a:r>
              <a:rPr lang="en-IN" sz="1200" b="1" dirty="0">
                <a:latin typeface="Calibri"/>
                <a:ea typeface="Calibri"/>
                <a:cs typeface="Calibri"/>
              </a:rPr>
              <a:t>Removed farmer name column which is not required.</a:t>
            </a:r>
          </a:p>
          <a:p>
            <a:pPr marL="629920" lvl="1" indent="-305435">
              <a:spcBef>
                <a:spcPct val="20000"/>
              </a:spcBef>
              <a:spcAft>
                <a:spcPts val="600"/>
              </a:spcAft>
              <a:buFont typeface="Arial"/>
              <a:buChar char="•"/>
            </a:pPr>
            <a:r>
              <a:rPr lang="en-IN" sz="1200" b="1" dirty="0">
                <a:latin typeface="Calibri"/>
                <a:ea typeface="Calibri"/>
                <a:cs typeface="Calibri"/>
              </a:rPr>
              <a:t>Filled annual rainfall missing value by taking mean.</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Charts used:</a:t>
            </a:r>
          </a:p>
          <a:p>
            <a:pPr marL="305435" indent="-305435">
              <a:spcBef>
                <a:spcPct val="20000"/>
              </a:spcBef>
              <a:spcAft>
                <a:spcPts val="600"/>
              </a:spcAft>
              <a:buFont typeface="Arial"/>
              <a:buChar char="•"/>
            </a:pPr>
            <a:r>
              <a:rPr lang="en-IN" sz="1200" b="1" dirty="0">
                <a:latin typeface="Calibri"/>
                <a:ea typeface="Calibri"/>
                <a:cs typeface="Calibri"/>
              </a:rPr>
              <a:t>Sheet1:-</a:t>
            </a:r>
            <a:r>
              <a:rPr lang="en-IN" sz="1200" b="1" u="sng" dirty="0">
                <a:latin typeface="Calibri"/>
                <a:ea typeface="Calibri"/>
                <a:cs typeface="Calibri"/>
              </a:rPr>
              <a:t>Overview</a:t>
            </a:r>
            <a:r>
              <a:rPr lang="en-IN" sz="1200" b="1" dirty="0">
                <a:latin typeface="Calibri"/>
                <a:ea typeface="Calibri"/>
                <a:cs typeface="Calibri"/>
              </a:rPr>
              <a:t> (1)stacked bar chart (2)pie chart</a:t>
            </a:r>
          </a:p>
          <a:p>
            <a:pPr marL="305435" indent="-305435">
              <a:spcBef>
                <a:spcPct val="20000"/>
              </a:spcBef>
              <a:spcAft>
                <a:spcPts val="600"/>
              </a:spcAft>
              <a:buFont typeface="Arial"/>
              <a:buChar char="•"/>
            </a:pPr>
            <a:r>
              <a:rPr lang="en-IN" sz="1200" b="1" dirty="0">
                <a:latin typeface="Calibri"/>
                <a:ea typeface="Calibri"/>
                <a:cs typeface="Calibri"/>
              </a:rPr>
              <a:t>Sheet2:-</a:t>
            </a:r>
            <a:r>
              <a:rPr lang="en-IN" sz="1200" b="1" u="sng" dirty="0">
                <a:latin typeface="Calibri"/>
                <a:ea typeface="Calibri"/>
                <a:cs typeface="Calibri"/>
              </a:rPr>
              <a:t>Fertilizer</a:t>
            </a:r>
            <a:r>
              <a:rPr lang="en-IN" sz="1200" b="1" dirty="0">
                <a:latin typeface="Calibri"/>
                <a:ea typeface="Calibri"/>
                <a:cs typeface="Calibri"/>
              </a:rPr>
              <a:t> (1)Line and stacked column chart (2)Scatter chart</a:t>
            </a:r>
          </a:p>
          <a:p>
            <a:pPr marL="305435" indent="-305435">
              <a:spcBef>
                <a:spcPct val="20000"/>
              </a:spcBef>
              <a:spcAft>
                <a:spcPts val="600"/>
              </a:spcAft>
              <a:buFont typeface="Arial"/>
              <a:buChar char="•"/>
            </a:pPr>
            <a:r>
              <a:rPr lang="en-IN" sz="1200" b="1" dirty="0">
                <a:latin typeface="Calibri"/>
                <a:ea typeface="Calibri"/>
                <a:cs typeface="Calibri"/>
              </a:rPr>
              <a:t>Sheet3:-</a:t>
            </a:r>
            <a:r>
              <a:rPr lang="en-IN" sz="1200" b="1" u="sng" dirty="0">
                <a:latin typeface="Calibri"/>
                <a:ea typeface="Calibri"/>
                <a:cs typeface="Calibri"/>
              </a:rPr>
              <a:t>Production</a:t>
            </a:r>
            <a:r>
              <a:rPr lang="en-IN" sz="1200" b="1" dirty="0">
                <a:latin typeface="Calibri"/>
                <a:ea typeface="Calibri"/>
                <a:cs typeface="Calibri"/>
              </a:rPr>
              <a:t> (1)Table chart (2)Donut chart (3)key influencers chart</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To Develop a user-friendly interface  that provides real-time predictions for </a:t>
            </a:r>
            <a:r>
              <a:rPr lang="en-US" sz="1200" b="1" u="sng" dirty="0">
                <a:latin typeface="Calibri" panose="020F0502020204030204" pitchFamily="34" charset="0"/>
                <a:ea typeface="Calibri" panose="020F0502020204030204" pitchFamily="34" charset="0"/>
                <a:cs typeface="Calibri" panose="020F0502020204030204" pitchFamily="34" charset="0"/>
              </a:rPr>
              <a:t>Analyzing Agriculture Productivity Across Indian States.</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Deploy the solution on a scalable and reliable platform, considering factors like server infrastructure, response time, and user accessibility.</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Assess the Power BI model's performance by checking if data is accurate or not, always check for newer data set and that info in your dataset.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Fine-tune the power bi model based on farmers and organization feedback and always  continuous monitoring for better prediction and accuracy.</a:t>
            </a:r>
            <a:endParaRPr lang="en-IN" sz="1200" dirty="0">
              <a:latin typeface="Calibri"/>
              <a:ea typeface="Calibri"/>
              <a:cs typeface="Calibri"/>
            </a:endParaRPr>
          </a:p>
          <a:p>
            <a:pPr marL="324485" lvl="1" indent="0">
              <a:spcBef>
                <a:spcPct val="20000"/>
              </a:spcBef>
              <a:spcAft>
                <a:spcPts val="600"/>
              </a:spcAft>
              <a:buNone/>
            </a:pP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9" y="587829"/>
            <a:ext cx="12192549" cy="5831901"/>
          </a:xfrm>
        </p:spPr>
        <p:txBody>
          <a:bodyPr lIns="91440" tIns="45720" rIns="91440" bIns="45720" anchor="t">
            <a:normAutofit fontScale="90000"/>
          </a:bodyPr>
          <a:lstStyle/>
          <a:p>
            <a:pPr marL="629920" lvl="1" indent="-305435">
              <a:spcBef>
                <a:spcPct val="20000"/>
              </a:spcBef>
              <a:spcAft>
                <a:spcPts val="600"/>
              </a:spcAft>
              <a:buFont typeface="Arial"/>
              <a:buChar char="•"/>
            </a:pPr>
            <a:r>
              <a:rPr lang="en-US" b="1" cap="all" dirty="0">
                <a:latin typeface="Aptos Narrow" panose="020B0004020202020204" pitchFamily="34" charset="0"/>
                <a:ea typeface="Calibri" panose="020F0502020204030204" pitchFamily="34" charset="0"/>
                <a:cs typeface="Calibri" panose="020F0502020204030204" pitchFamily="34" charset="0"/>
              </a:rPr>
              <a:t>System  Approach:</a:t>
            </a:r>
            <a:br>
              <a:rPr lang="en-US" b="1" cap="all" dirty="0">
                <a:latin typeface="Arial"/>
                <a:cs typeface="Arial"/>
              </a:rPr>
            </a:br>
            <a:r>
              <a:rPr lang="en-IN"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1. Data Import</a:t>
            </a:r>
            <a: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 – Loaded agricultural dataset into Power BI.</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1)</a:t>
            </a:r>
            <a:r>
              <a:rPr lang="en-IN" b="1" dirty="0">
                <a:latin typeface="Calibri"/>
                <a:ea typeface="Calibri"/>
                <a:cs typeface="Calibri"/>
              </a:rPr>
              <a:t>Collected agricultural data from Kaggle public dataset</a:t>
            </a:r>
            <a:br>
              <a:rPr lang="en-IN" dirty="0">
                <a:latin typeface="Calibri"/>
                <a:ea typeface="Calibri"/>
                <a:cs typeface="Calibri"/>
              </a:rPr>
            </a:br>
            <a:r>
              <a:rPr lang="en-IN" dirty="0">
                <a:latin typeface="Calibri"/>
                <a:ea typeface="Calibri"/>
                <a:cs typeface="Calibri"/>
              </a:rPr>
              <a:t>2)</a:t>
            </a:r>
            <a:r>
              <a:rPr lang="en-IN" b="1" dirty="0">
                <a:latin typeface="Calibri"/>
                <a:ea typeface="Calibri"/>
                <a:cs typeface="Calibri"/>
              </a:rPr>
              <a:t>Dataset includes Crop, Crop Year , Season , State , Area , Production Rate ,Annual rainfall, Fertilizer , pesticide , Yield imported into power Bi</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2. Visualization</a:t>
            </a:r>
            <a: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 – Created charts for crop productivity, regional yield comparison.</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rPr>
              <a:t>(1)overview sheet:-</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(1)It includes Average of annual rainfall, Average of Fertilization, Average of Production</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it also includes (2)stacked bar chart shows average of production in X-axis and Crop in Y-axis</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(3)also include pie chart which shows average of production by state. Which include state column.</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rPr>
              <a:t>(2)Fertilizer sheet:-</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1) it includes average of production and average of Fertilizer by crop which is shown by Line and stacked column chart</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2)second chart is of sum of Fertilizer and sum of crops shown by scatter chart with respect to state and season .</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rPr>
              <a:t>(3)</a:t>
            </a:r>
            <a:r>
              <a:rPr lang="en-IN" b="1" dirty="0">
                <a:solidFill>
                  <a:srgbClr val="C00000"/>
                </a:solidFill>
              </a:rPr>
              <a:t> </a:t>
            </a: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rPr>
              <a:t>Energy Consumption Trend Analysis:-</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1)It includes energy consumption and trend analysis which includes normal table which has column like state ,season crop, sum of area , sum of annual rainfall , sum of pesticide,</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sum of Fertilizer, sum of production</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2)it also include </a:t>
            </a:r>
            <a:r>
              <a:rPr lang="en-IN" b="1" dirty="0" err="1">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dount</a:t>
            </a: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 chart  which shows values such as sum of production</a:t>
            </a:r>
            <a:b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3) third chart shows key influencers which </a:t>
            </a:r>
            <a:r>
              <a:rPr lang="en-IN" b="1" dirty="0" err="1">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analyze</a:t>
            </a:r>
            <a:r>
              <a:rPr lang="en-IN"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 Fertilizer and Explain sum of production.</a:t>
            </a:r>
            <a:br>
              <a:rPr lang="en-IN"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3. Dashboard</a:t>
            </a:r>
            <a: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 – Designed a report with slicers and KPIs.</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By this way system approach goes.</a:t>
            </a:r>
            <a:br>
              <a:rPr lang="en-IN"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br>
              <a:rPr lang="en-IN" sz="4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b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0FFD80E7-98DB-92F4-C1FF-F5BE13BD4D03}"/>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br>
              <a:rPr lang="en-US" sz="4000" b="1" cap="all" dirty="0">
                <a:latin typeface="Arial"/>
                <a:cs typeface="Arial"/>
              </a:rPr>
            </a:br>
            <a:r>
              <a:rPr lang="en-US" sz="2000" b="1" u="sng" cap="all" dirty="0">
                <a:latin typeface="Arial" panose="020B0604020202020204" pitchFamily="34" charset="0"/>
                <a:ea typeface="Calibri" panose="020F0502020204030204" pitchFamily="34" charset="0"/>
                <a:cs typeface="Arial" panose="020B0604020202020204" pitchFamily="34" charset="0"/>
              </a:rPr>
              <a:t>S</a:t>
            </a:r>
            <a:r>
              <a:rPr lang="en-US" sz="2000" b="1" u="sng" dirty="0">
                <a:latin typeface="Arial" panose="020B0604020202020204" pitchFamily="34" charset="0"/>
                <a:ea typeface="Calibri" panose="020F0502020204030204" pitchFamily="34" charset="0"/>
                <a:cs typeface="Arial" panose="020B0604020202020204" pitchFamily="34" charset="0"/>
              </a:rPr>
              <a:t>creenshot of output:-</a:t>
            </a:r>
            <a:endParaRPr lang="en-US" sz="2000" u="sng" dirty="0">
              <a:latin typeface="Arial" panose="020B0604020202020204" pitchFamily="34" charset="0"/>
              <a:ea typeface="Calibri" panose="020F050202020403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9B7B1FA5-EC3D-3F19-33F1-F73CC3E1FE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8416" y="1576873"/>
            <a:ext cx="9787813" cy="48332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8742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400" dirty="0">
                <a:latin typeface="Calibri" pitchFamily="34" charset="0"/>
                <a:ea typeface="Calibri" pitchFamily="34" charset="0"/>
                <a:cs typeface="Calibri" pitchFamily="34" charset="0"/>
              </a:rPr>
              <a:t>The project demonstrates the power of visualization tools like Power BI in transforming raw agricultural data into meaningful insights. It supports better planning and decision-making in the agricultural sector by identifying trends, inefficiencies, and opportunities.</a:t>
            </a:r>
          </a:p>
          <a:p>
            <a:pPr marL="0" indent="0">
              <a:buNone/>
            </a:pP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361378" y="1269115"/>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buNone/>
            </a:pPr>
            <a:r>
              <a:rPr lang="en-US" sz="2000" dirty="0"/>
              <a:t>In the future, this project can be enhanced by integrating real-time agricultural data to provide more accurate and up-to-date insights. Advanced technologies such as machine learning can be used to predict crop production and productivity trends. Additional factors like weather conditions, soil quality, and irrigation data can also be included to improve the analysis. Furthermore, the dashboard can be developed as a mobile or web-based application so that farmers, researchers, and policymakers can easily access the information and make better decisions.</a:t>
            </a:r>
            <a:endParaRPr lang="en-GB" sz="2000" dirty="0"/>
          </a:p>
        </p:txBody>
      </p:sp>
    </p:spTree>
    <p:extLst>
      <p:ext uri="{BB962C8B-B14F-4D97-AF65-F5344CB8AC3E}">
        <p14:creationId xmlns:p14="http://schemas.microsoft.com/office/powerpoint/2010/main" val="374419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To build this reference taken from session conducted by </a:t>
            </a:r>
            <a:r>
              <a:rPr lang="en-IN" sz="2200" dirty="0" err="1">
                <a:latin typeface="Franklin Gothic Book"/>
              </a:rPr>
              <a:t>edunet</a:t>
            </a:r>
            <a:r>
              <a:rPr lang="en-IN" sz="2200" dirty="0">
                <a:latin typeface="Franklin Gothic Book"/>
              </a:rPr>
              <a:t> foundation</a:t>
            </a:r>
          </a:p>
          <a:p>
            <a:pPr marL="0" indent="0">
              <a:buNone/>
            </a:pPr>
            <a:r>
              <a:rPr lang="en-IN" sz="2200" dirty="0">
                <a:latin typeface="Franklin Gothic Book"/>
              </a:rPr>
              <a:t>Dataset is taken from Kaggle public dataset platform below link is provided for that </a:t>
            </a:r>
          </a:p>
          <a:p>
            <a:pPr marL="0" indent="0">
              <a:buNone/>
            </a:pPr>
            <a:r>
              <a:rPr lang="en-IN" sz="2200" dirty="0">
                <a:latin typeface="Franklin Gothic Book"/>
              </a:rPr>
              <a:t>https://www.kaggle.com/datasets/thammuio/all-agriculture-related-datasets-for-india?resource=download  </a:t>
            </a:r>
          </a:p>
          <a:p>
            <a:pPr marL="0" indent="0">
              <a:buNone/>
            </a:pPr>
            <a:r>
              <a:rPr lang="en-IN" sz="2200" dirty="0">
                <a:latin typeface="Franklin Gothic Book"/>
              </a:rPr>
              <a:t>All the Project and dataset information is present in below mentioned </a:t>
            </a:r>
            <a:r>
              <a:rPr lang="en-IN" sz="2200" dirty="0" err="1">
                <a:latin typeface="Franklin Gothic Book"/>
              </a:rPr>
              <a:t>github</a:t>
            </a:r>
            <a:r>
              <a:rPr lang="en-IN" sz="2200" dirty="0">
                <a:latin typeface="Franklin Gothic Book"/>
              </a:rPr>
              <a:t> profile link</a:t>
            </a:r>
          </a:p>
          <a:p>
            <a:pPr marL="0" indent="0">
              <a:buNone/>
            </a:pPr>
            <a:r>
              <a:rPr lang="en-IN" sz="2200" dirty="0">
                <a:latin typeface="Franklin Gothic Book"/>
              </a:rPr>
              <a:t>GitHub Link:</a:t>
            </a:r>
            <a:r>
              <a:rPr lang="en-IN" sz="2200" dirty="0">
                <a:solidFill>
                  <a:srgbClr val="0070C0"/>
                </a:solidFill>
                <a:latin typeface="Franklin Gothic Book"/>
              </a:rPr>
              <a:t> https://github.com/KrishnaDhale/Analyzing-Agriculture-Productivity-Across-Indian-States.git</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956</Words>
  <Application>Microsoft Office PowerPoint</Application>
  <PresentationFormat>Widescreen</PresentationFormat>
  <Paragraphs>52</Paragraphs>
  <Slides>10</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Aptos</vt:lpstr>
      <vt:lpstr>Aptos Narrow</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 1. Data Import – Loaded agricultural dataset into Power BI. 1)Collected agricultural data from Kaggle public dataset 2)Dataset includes Crop, Crop Year , Season , State , Area , Production Rate ,Annual rainfall, Fertilizer , pesticide , Yield imported into power Bi  2. Visualization – Created charts for crop productivity, regional yield comparison. (1)overview sheet:- (1)It includes Average of annual rainfall, Average of Fertilization, Average of Production it also includes (2)stacked bar chart shows average of production in X-axis and Crop in Y-axis (3)also include pie chart which shows average of production by state. Which include state column. (2)Fertilizer sheet:- 1) it includes average of production and average of Fertilizer by crop which is shown by Line and stacked column chart 2)second chart is of sum of Fertilizer and sum of crops shown by scatter chart with respect to state and season . (3) Energy Consumption Trend Analysis:- 1)It includes energy consumption and trend analysis which includes normal table which has column like state ,season crop, sum of area , sum of annual rainfall , sum of pesticide, sum of Fertilizer, sum of production 2)it also include dount chart  which shows values such as sum of production 3) third chart shows key influencers which analyze Fertilizer and Explain sum of production.   3. Dashboard – Designed a report with slicers and KPIs. By this way system approach goes.  </vt:lpstr>
      <vt:lpstr>Result: Screenshot of output:-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dhale</dc:creator>
  <cp:lastModifiedBy>Krishna Dhale</cp:lastModifiedBy>
  <cp:revision>102</cp:revision>
  <dcterms:created xsi:type="dcterms:W3CDTF">2024-05-21T11:55:07Z</dcterms:created>
  <dcterms:modified xsi:type="dcterms:W3CDTF">2026-03-14T22:37:31Z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